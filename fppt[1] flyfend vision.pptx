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8" r:id="rId3"/>
    <p:sldId id="266" r:id="rId4"/>
    <p:sldId id="259" r:id="rId5"/>
    <p:sldId id="265" r:id="rId6"/>
    <p:sldId id="267" r:id="rId7"/>
    <p:sldId id="269" r:id="rId8"/>
    <p:sldId id="268" r:id="rId9"/>
    <p:sldId id="262" r:id="rId10"/>
    <p:sldId id="270"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74" d="100"/>
          <a:sy n="74" d="100"/>
        </p:scale>
        <p:origin x="96"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919502905197" userId="3aa2055dda27783d" providerId="LiveId" clId="{CF5F2700-CA7A-4711-96E9-41FE7DB32C95}"/>
    <pc:docChg chg="undo redo custSel modSld">
      <pc:chgData name="919502905197" userId="3aa2055dda27783d" providerId="LiveId" clId="{CF5F2700-CA7A-4711-96E9-41FE7DB32C95}" dt="2026-03-03T18:24:10.002" v="22" actId="6549"/>
      <pc:docMkLst>
        <pc:docMk/>
      </pc:docMkLst>
      <pc:sldChg chg="modSp mod">
        <pc:chgData name="919502905197" userId="3aa2055dda27783d" providerId="LiveId" clId="{CF5F2700-CA7A-4711-96E9-41FE7DB32C95}" dt="2026-03-03T18:20:17.258" v="18" actId="6549"/>
        <pc:sldMkLst>
          <pc:docMk/>
          <pc:sldMk cId="2486834817" sldId="267"/>
        </pc:sldMkLst>
        <pc:spChg chg="mod">
          <ac:chgData name="919502905197" userId="3aa2055dda27783d" providerId="LiveId" clId="{CF5F2700-CA7A-4711-96E9-41FE7DB32C95}" dt="2026-03-03T18:20:17.258" v="18" actId="6549"/>
          <ac:spMkLst>
            <pc:docMk/>
            <pc:sldMk cId="2486834817" sldId="267"/>
            <ac:spMk id="3" creationId="{D26B87DE-3C1B-3DE2-1BD2-EC94E0C5AE0B}"/>
          </ac:spMkLst>
        </pc:spChg>
        <pc:spChg chg="mod">
          <ac:chgData name="919502905197" userId="3aa2055dda27783d" providerId="LiveId" clId="{CF5F2700-CA7A-4711-96E9-41FE7DB32C95}" dt="2026-03-03T18:00:29.439" v="10" actId="6549"/>
          <ac:spMkLst>
            <pc:docMk/>
            <pc:sldMk cId="2486834817" sldId="267"/>
            <ac:spMk id="5" creationId="{ACF3B607-BC06-4A77-4950-15E5F8647863}"/>
          </ac:spMkLst>
        </pc:spChg>
        <pc:spChg chg="mod">
          <ac:chgData name="919502905197" userId="3aa2055dda27783d" providerId="LiveId" clId="{CF5F2700-CA7A-4711-96E9-41FE7DB32C95}" dt="2026-03-03T18:00:30.540" v="12" actId="6549"/>
          <ac:spMkLst>
            <pc:docMk/>
            <pc:sldMk cId="2486834817" sldId="267"/>
            <ac:spMk id="9" creationId="{862BA08C-EFBB-670C-A48A-655632CC9479}"/>
          </ac:spMkLst>
        </pc:spChg>
      </pc:sldChg>
      <pc:sldChg chg="modSp mod">
        <pc:chgData name="919502905197" userId="3aa2055dda27783d" providerId="LiveId" clId="{CF5F2700-CA7A-4711-96E9-41FE7DB32C95}" dt="2026-03-03T18:24:10.002" v="22" actId="6549"/>
        <pc:sldMkLst>
          <pc:docMk/>
          <pc:sldMk cId="2876760912" sldId="268"/>
        </pc:sldMkLst>
        <pc:spChg chg="mod">
          <ac:chgData name="919502905197" userId="3aa2055dda27783d" providerId="LiveId" clId="{CF5F2700-CA7A-4711-96E9-41FE7DB32C95}" dt="2026-03-03T18:24:10.002" v="22" actId="6549"/>
          <ac:spMkLst>
            <pc:docMk/>
            <pc:sldMk cId="2876760912" sldId="268"/>
            <ac:spMk id="5" creationId="{FC662F7D-710B-16F9-3EAA-D641D67773B6}"/>
          </ac:spMkLst>
        </pc:spChg>
      </pc:sldChg>
      <pc:sldChg chg="modSp mod">
        <pc:chgData name="919502905197" userId="3aa2055dda27783d" providerId="LiveId" clId="{CF5F2700-CA7A-4711-96E9-41FE7DB32C95}" dt="2026-03-03T17:53:33.156" v="5" actId="21"/>
        <pc:sldMkLst>
          <pc:docMk/>
          <pc:sldMk cId="4052617830" sldId="269"/>
        </pc:sldMkLst>
        <pc:spChg chg="mod">
          <ac:chgData name="919502905197" userId="3aa2055dda27783d" providerId="LiveId" clId="{CF5F2700-CA7A-4711-96E9-41FE7DB32C95}" dt="2026-03-03T17:53:31.567" v="3" actId="20577"/>
          <ac:spMkLst>
            <pc:docMk/>
            <pc:sldMk cId="4052617830" sldId="269"/>
            <ac:spMk id="3" creationId="{8551B25C-472E-77CC-7A73-6259787A2994}"/>
          </ac:spMkLst>
        </pc:spChg>
        <pc:spChg chg="mod">
          <ac:chgData name="919502905197" userId="3aa2055dda27783d" providerId="LiveId" clId="{CF5F2700-CA7A-4711-96E9-41FE7DB32C95}" dt="2026-03-03T17:53:33.156" v="5" actId="21"/>
          <ac:spMkLst>
            <pc:docMk/>
            <pc:sldMk cId="4052617830" sldId="269"/>
            <ac:spMk id="5" creationId="{56047C73-4478-8D03-86C8-DDA8C18C36E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BAFD4-1DCA-115C-0AE6-E9EFBCC77B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19FE5E-B9A4-292A-E66B-696F67B0DB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DCBE8D9-4963-ED36-E7F1-74CA8252F1A0}"/>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412DCDC0-1263-1E95-E5CA-B14B7FBAA5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9860BB-F64D-A049-095C-BEE50BB72E68}"/>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2520476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D8EF-9219-EE4F-45E8-DF4CA09D83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61D17D-415E-A696-21DE-42D6DAF2F2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469640-467B-1607-71CC-6684ABA92A72}"/>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9588D935-D7E1-2D83-F2DF-5A879BC1FA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B2C525-109A-40DF-8720-7A29DC0F207C}"/>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2312894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E27B-5D4C-A06E-17F3-2CEB787899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384FDB-B7AA-8C5F-2987-0D9EA3E69E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5EE037-55EE-AB9E-6DC0-3F83C7287B4F}"/>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9F8556FC-4D2C-5050-2762-9931569E9F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8EE8A0-86C4-C0DE-0AA1-E8C1CFA3DB00}"/>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3374206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23246-994E-93E9-1F75-D419577B6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737D3A2-60E5-03D3-3D96-E0C225C648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FE95F0-77E0-F247-38F4-75A491A673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85DE21D-D29D-AB20-4729-D0A068E8C9B8}"/>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6" name="Footer Placeholder 5">
            <a:extLst>
              <a:ext uri="{FF2B5EF4-FFF2-40B4-BE49-F238E27FC236}">
                <a16:creationId xmlns:a16="http://schemas.microsoft.com/office/drawing/2014/main" id="{C2842BB1-C498-3A1A-1B64-DCEA287036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48EDD7-CED1-7A59-B6E6-98F979B4096F}"/>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213115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B01EC-90D6-323E-C752-FCFA24630D7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D715E6-1C4D-38DA-8E8A-856E76B479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4DF28A-86BD-6E91-8BD8-E194B32250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C6117D-4476-FE2F-B438-BE0E5FCCE0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77D1AB-4F24-DEAC-98B9-48138619EA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9A3952-5806-7A62-297A-0D54E69C27E3}"/>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8" name="Footer Placeholder 7">
            <a:extLst>
              <a:ext uri="{FF2B5EF4-FFF2-40B4-BE49-F238E27FC236}">
                <a16:creationId xmlns:a16="http://schemas.microsoft.com/office/drawing/2014/main" id="{03A17605-F9D0-B1F2-238E-1FCB85465A4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041D6A-0713-FF2D-7102-5CC1915C0E18}"/>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3465778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95817-7CEB-3B18-7238-05DB55A396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CDBBB6-137C-A407-8CD8-325FCC28F686}"/>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4" name="Footer Placeholder 3">
            <a:extLst>
              <a:ext uri="{FF2B5EF4-FFF2-40B4-BE49-F238E27FC236}">
                <a16:creationId xmlns:a16="http://schemas.microsoft.com/office/drawing/2014/main" id="{7412A415-BA34-BC98-D031-03E66C6F57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6A02AB8-1616-A00B-034D-761AA10C3033}"/>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3785882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568944-16A6-5CB8-005A-22B9C39D1376}"/>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3" name="Footer Placeholder 2">
            <a:extLst>
              <a:ext uri="{FF2B5EF4-FFF2-40B4-BE49-F238E27FC236}">
                <a16:creationId xmlns:a16="http://schemas.microsoft.com/office/drawing/2014/main" id="{E8A74E4C-2977-5DC7-DA76-B9B03858E1F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18DAD8-9490-CC4E-2B8C-6598820AB853}"/>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3056229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F70B-A175-729B-73F0-31A537AB3C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1E85B1-E69C-D90B-E487-E412D6CF1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79265C-8C54-E2C5-8DF8-5C2C2B5D2D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3C81FF-B60D-1058-54EA-254592E7E54F}"/>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6" name="Footer Placeholder 5">
            <a:extLst>
              <a:ext uri="{FF2B5EF4-FFF2-40B4-BE49-F238E27FC236}">
                <a16:creationId xmlns:a16="http://schemas.microsoft.com/office/drawing/2014/main" id="{8DDEC1D2-812C-32C5-5187-386107CD56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6A2C7B-5967-45CE-62BE-79E7AB22FBC3}"/>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2164805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DAD98-E44C-9F78-0DB1-F3D1EAB0E3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06D1672-7C09-C7C7-82C5-ABBAF9B63ED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9A9BF4-0191-810C-D28F-00B48E80F6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DAFCF-3E3A-DF7F-1B1D-C7276D934712}"/>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6" name="Footer Placeholder 5">
            <a:extLst>
              <a:ext uri="{FF2B5EF4-FFF2-40B4-BE49-F238E27FC236}">
                <a16:creationId xmlns:a16="http://schemas.microsoft.com/office/drawing/2014/main" id="{046C4A7A-319E-D13B-677E-704B58A4E7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1AE6B0-5959-C2D8-CE7B-E34B41AB33B8}"/>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303788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30BA6-5A36-8C16-3DA1-4166104469E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E328198-D621-24C9-CF52-4EBA6D4FB1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FBE6CA-0FD3-CBCA-8717-A03B0775EE32}"/>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C8198CF7-1F5F-A365-E8B4-3423614A10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56140-3B41-9642-FAED-EE20554F4298}"/>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663519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ED6360-1CC8-3D30-03FB-6518EFB795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2682A2-BDFC-83C7-382A-85790E639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232DC90-E101-94B1-86BD-8C6BBF960C43}"/>
              </a:ext>
            </a:extLst>
          </p:cNvPr>
          <p:cNvSpPr>
            <a:spLocks noGrp="1"/>
          </p:cNvSpPr>
          <p:nvPr>
            <p:ph type="dt" sz="half" idx="10"/>
          </p:nvPr>
        </p:nvSpPr>
        <p:spPr/>
        <p:txBody>
          <a:body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52F10A20-2856-EFA9-1761-AC8078D8E4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963449-62AE-0A7B-29FB-AEFD1A6DFA9A}"/>
              </a:ext>
            </a:extLst>
          </p:cNvPr>
          <p:cNvSpPr>
            <a:spLocks noGrp="1"/>
          </p:cNvSpPr>
          <p:nvPr>
            <p:ph type="sldNum" sz="quarter" idx="12"/>
          </p:nvPr>
        </p:nvSpPr>
        <p:spPr/>
        <p:txBody>
          <a:bodyPr/>
          <a:lstStyle/>
          <a:p>
            <a:fld id="{6F4656AF-5B5E-48A6-B4B5-3A8BE6645FC8}" type="slidenum">
              <a:rPr lang="en-IN" smtClean="0"/>
              <a:t>‹#›</a:t>
            </a:fld>
            <a:endParaRPr lang="en-IN"/>
          </a:p>
        </p:txBody>
      </p:sp>
    </p:spTree>
    <p:extLst>
      <p:ext uri="{BB962C8B-B14F-4D97-AF65-F5344CB8AC3E}">
        <p14:creationId xmlns:p14="http://schemas.microsoft.com/office/powerpoint/2010/main" val="223502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4D32D5-765A-6F62-66B7-83AF58AEDA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F294DC-45D5-A397-2EEB-5A3B161560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37E813-2E93-D17B-5D49-63CA62334E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DA7883-E859-4F4F-93F9-0A5FD9BCA68A}" type="datetimeFigureOut">
              <a:rPr lang="en-IN" smtClean="0"/>
              <a:t>03-03-2026</a:t>
            </a:fld>
            <a:endParaRPr lang="en-IN"/>
          </a:p>
        </p:txBody>
      </p:sp>
      <p:sp>
        <p:nvSpPr>
          <p:cNvPr id="5" name="Footer Placeholder 4">
            <a:extLst>
              <a:ext uri="{FF2B5EF4-FFF2-40B4-BE49-F238E27FC236}">
                <a16:creationId xmlns:a16="http://schemas.microsoft.com/office/drawing/2014/main" id="{2749A06A-510D-0098-96A9-02A11050BB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35D6FA2-09FD-91DA-42CC-BB6A767E0A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4656AF-5B5E-48A6-B4B5-3A8BE6645FC8}" type="slidenum">
              <a:rPr lang="en-IN" smtClean="0"/>
              <a:t>‹#›</a:t>
            </a:fld>
            <a:endParaRPr lang="en-IN"/>
          </a:p>
        </p:txBody>
      </p:sp>
    </p:spTree>
    <p:extLst>
      <p:ext uri="{BB962C8B-B14F-4D97-AF65-F5344CB8AC3E}">
        <p14:creationId xmlns:p14="http://schemas.microsoft.com/office/powerpoint/2010/main" val="4242286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1.png"/><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433208-CD19-8264-A598-AB6D0F4F8D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371" y="146304"/>
            <a:ext cx="10055258" cy="6711696"/>
          </a:xfrm>
          <a:prstGeom prst="rect">
            <a:avLst/>
          </a:prstGeom>
        </p:spPr>
      </p:pic>
    </p:spTree>
    <p:extLst>
      <p:ext uri="{BB962C8B-B14F-4D97-AF65-F5344CB8AC3E}">
        <p14:creationId xmlns:p14="http://schemas.microsoft.com/office/powerpoint/2010/main" val="2258612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lain Color Background Images – Browse 865,812 Stock Photos, Vectors, and  Video | Adobe Stock">
            <a:extLst>
              <a:ext uri="{FF2B5EF4-FFF2-40B4-BE49-F238E27FC236}">
                <a16:creationId xmlns:a16="http://schemas.microsoft.com/office/drawing/2014/main" id="{5E1F9484-F74C-589F-B27C-3658D96CE5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8E7678A-9FC2-BBDA-76A3-512D62CA380F}"/>
              </a:ext>
            </a:extLst>
          </p:cNvPr>
          <p:cNvSpPr txBox="1">
            <a:spLocks/>
          </p:cNvSpPr>
          <p:nvPr/>
        </p:nvSpPr>
        <p:spPr>
          <a:xfrm>
            <a:off x="685801" y="609600"/>
            <a:ext cx="10131425" cy="14562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i="1" dirty="0">
                <a:solidFill>
                  <a:schemeClr val="accent2">
                    <a:lumMod val="60000"/>
                    <a:lumOff val="40000"/>
                  </a:schemeClr>
                </a:solidFill>
                <a:latin typeface="Algerian" panose="04020705040A02060702" pitchFamily="82" charset="0"/>
              </a:rPr>
              <a:t>Problem statement</a:t>
            </a:r>
          </a:p>
        </p:txBody>
      </p:sp>
      <p:sp>
        <p:nvSpPr>
          <p:cNvPr id="3" name="Content Placeholder 2">
            <a:extLst>
              <a:ext uri="{FF2B5EF4-FFF2-40B4-BE49-F238E27FC236}">
                <a16:creationId xmlns:a16="http://schemas.microsoft.com/office/drawing/2014/main" id="{31488262-C259-7B2D-2EF5-BC75A4A1B631}"/>
              </a:ext>
            </a:extLst>
          </p:cNvPr>
          <p:cNvSpPr txBox="1">
            <a:spLocks/>
          </p:cNvSpPr>
          <p:nvPr/>
        </p:nvSpPr>
        <p:spPr>
          <a:xfrm>
            <a:off x="5605271" y="1499616"/>
            <a:ext cx="6153913" cy="18562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FF00"/>
                </a:solidFill>
              </a:rPr>
              <a:t>Crop damage caused by birds in open agricultural fields results in major losses for farmers. Manual monitoring is time-consuming, labor-intensive, and cannot ensure continuous protection.</a:t>
            </a:r>
            <a:endParaRPr lang="en-IN" dirty="0">
              <a:solidFill>
                <a:srgbClr val="FFFF00"/>
              </a:solidFill>
            </a:endParaRPr>
          </a:p>
        </p:txBody>
      </p:sp>
      <p:pic>
        <p:nvPicPr>
          <p:cNvPr id="4" name="Picture 2" descr="Image of Siberian crane in wheat field-YR845333-Picxy">
            <a:extLst>
              <a:ext uri="{FF2B5EF4-FFF2-40B4-BE49-F238E27FC236}">
                <a16:creationId xmlns:a16="http://schemas.microsoft.com/office/drawing/2014/main" id="{3A1A367F-D19F-CA8E-77B3-EDD20101D3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1" y="1499616"/>
            <a:ext cx="4631317" cy="35727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610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Solid Color Background Images, HD Pictures and Wallpaper For Free Download  | Pngtree">
            <a:extLst>
              <a:ext uri="{FF2B5EF4-FFF2-40B4-BE49-F238E27FC236}">
                <a16:creationId xmlns:a16="http://schemas.microsoft.com/office/drawing/2014/main" id="{06A34AC1-D6D7-29B5-96AA-09E74E3144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2" name="Picture 8" descr="300+] Plain Backgrounds | Wallpapers.com">
            <a:extLst>
              <a:ext uri="{FF2B5EF4-FFF2-40B4-BE49-F238E27FC236}">
                <a16:creationId xmlns:a16="http://schemas.microsoft.com/office/drawing/2014/main" id="{18A9FFB4-E284-EE2B-A33C-EEE71264F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333DAB6-47C4-A24F-DC94-62EECBECBDD6}"/>
              </a:ext>
            </a:extLst>
          </p:cNvPr>
          <p:cNvSpPr txBox="1"/>
          <p:nvPr/>
        </p:nvSpPr>
        <p:spPr>
          <a:xfrm>
            <a:off x="2731625" y="423004"/>
            <a:ext cx="8400327" cy="1107996"/>
          </a:xfrm>
          <a:prstGeom prst="rect">
            <a:avLst/>
          </a:prstGeom>
          <a:noFill/>
        </p:spPr>
        <p:txBody>
          <a:bodyPr wrap="square">
            <a:spAutoFit/>
          </a:bodyPr>
          <a:lstStyle/>
          <a:p>
            <a:r>
              <a:rPr lang="en-IN" sz="6600" dirty="0"/>
              <a:t>Existing solutions</a:t>
            </a:r>
          </a:p>
        </p:txBody>
      </p:sp>
      <p:sp>
        <p:nvSpPr>
          <p:cNvPr id="9" name="TextBox 8">
            <a:extLst>
              <a:ext uri="{FF2B5EF4-FFF2-40B4-BE49-F238E27FC236}">
                <a16:creationId xmlns:a16="http://schemas.microsoft.com/office/drawing/2014/main" id="{752EA217-08B4-3386-A422-5E3740E70745}"/>
              </a:ext>
            </a:extLst>
          </p:cNvPr>
          <p:cNvSpPr txBox="1"/>
          <p:nvPr/>
        </p:nvSpPr>
        <p:spPr>
          <a:xfrm>
            <a:off x="439838" y="1531000"/>
            <a:ext cx="11320040" cy="5262979"/>
          </a:xfrm>
          <a:prstGeom prst="rect">
            <a:avLst/>
          </a:prstGeom>
          <a:noFill/>
        </p:spPr>
        <p:txBody>
          <a:bodyPr wrap="square">
            <a:spAutoFit/>
          </a:bodyPr>
          <a:lstStyle/>
          <a:p>
            <a:r>
              <a:rPr lang="en-IN" sz="2800" dirty="0"/>
              <a:t>Here are some simple existing solutions to your bird problem 👇</a:t>
            </a:r>
          </a:p>
          <a:p>
            <a:endParaRPr lang="en-IN" sz="2800" dirty="0"/>
          </a:p>
          <a:p>
            <a:pPr marL="457200" indent="-457200">
              <a:buAutoNum type="arabicPeriod"/>
            </a:pPr>
            <a:r>
              <a:rPr lang="en-IN" sz="2800" dirty="0"/>
              <a:t>Scare crow: A human-shaped dummy used to scare birds, but birds get used to it over time.</a:t>
            </a:r>
          </a:p>
          <a:p>
            <a:r>
              <a:rPr lang="en-IN" sz="2800" dirty="0"/>
              <a:t>2 . Reflective Tapes &amp; CD s: Hung around fields to reflect sunlight and scare birds visually.</a:t>
            </a:r>
          </a:p>
          <a:p>
            <a:r>
              <a:rPr lang="en-IN" sz="2800" dirty="0"/>
              <a:t>3. Sound Deterrents : Speakers play loud or predator sounds to keep birds away</a:t>
            </a:r>
          </a:p>
          <a:p>
            <a:r>
              <a:rPr lang="en-IN" sz="2800" dirty="0"/>
              <a:t>4. Netting :  Covering crops with plastic or nylon nets to stop birds from landing.</a:t>
            </a:r>
          </a:p>
          <a:p>
            <a:r>
              <a:rPr lang="en-IN" sz="2800" dirty="0"/>
              <a:t>5.Laser Lights : Laser beams are used at night to scare birds without harming them</a:t>
            </a:r>
            <a:r>
              <a:rPr lang="en-IN" sz="2400" dirty="0"/>
              <a:t>.</a:t>
            </a:r>
          </a:p>
        </p:txBody>
      </p:sp>
    </p:spTree>
    <p:extLst>
      <p:ext uri="{BB962C8B-B14F-4D97-AF65-F5344CB8AC3E}">
        <p14:creationId xmlns:p14="http://schemas.microsoft.com/office/powerpoint/2010/main" val="17491577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astel orange Images - Free Download on Freepik">
            <a:extLst>
              <a:ext uri="{FF2B5EF4-FFF2-40B4-BE49-F238E27FC236}">
                <a16:creationId xmlns:a16="http://schemas.microsoft.com/office/drawing/2014/main" id="{619700F5-E002-7C77-C5EA-BAC4787F9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1EB0BAB-D19C-71B7-95A1-CCB3FE494435}"/>
              </a:ext>
            </a:extLst>
          </p:cNvPr>
          <p:cNvSpPr txBox="1"/>
          <p:nvPr/>
        </p:nvSpPr>
        <p:spPr>
          <a:xfrm>
            <a:off x="0" y="1"/>
            <a:ext cx="12192000" cy="7017306"/>
          </a:xfrm>
          <a:prstGeom prst="rect">
            <a:avLst/>
          </a:prstGeom>
          <a:noFill/>
        </p:spPr>
        <p:txBody>
          <a:bodyPr wrap="square">
            <a:spAutoFit/>
          </a:bodyPr>
          <a:lstStyle/>
          <a:p>
            <a:pPr algn="ctr">
              <a:buNone/>
            </a:pPr>
            <a:r>
              <a:rPr lang="en-US" dirty="0">
                <a:latin typeface="Bahnschrift SemiBold" panose="020B0502040204020203" pitchFamily="34" charset="0"/>
              </a:rPr>
              <a:t> ⁠</a:t>
            </a:r>
            <a:r>
              <a:rPr lang="en-US" sz="2000" b="1" i="1" dirty="0">
                <a:latin typeface="Algerian" panose="04020705040A02060702" pitchFamily="82" charset="0"/>
              </a:rPr>
              <a:t>Proposed Solution </a:t>
            </a:r>
          </a:p>
          <a:p>
            <a:pPr>
              <a:buNone/>
            </a:pPr>
            <a:r>
              <a:rPr lang="en-US" dirty="0">
                <a:latin typeface="Bahnschrift SemiBold" panose="020B0502040204020203" pitchFamily="34" charset="0"/>
              </a:rPr>
              <a:t>1. System Setup</a:t>
            </a:r>
          </a:p>
          <a:p>
            <a:pPr>
              <a:buNone/>
            </a:pPr>
            <a:r>
              <a:rPr lang="en-US" dirty="0">
                <a:latin typeface="Bahnschrift SemiBold" panose="020B0502040204020203" pitchFamily="34" charset="0"/>
              </a:rPr>
              <a:t>The system is installed at the center of the farm field. A rotational motor is fixed firmly on the ground, and two long sticks are attached to it in a V-shape. On the top of these sticks, two eagle decoy models are placed.</a:t>
            </a:r>
          </a:p>
          <a:p>
            <a:pPr>
              <a:buNone/>
            </a:pPr>
            <a:endParaRPr lang="en-US" dirty="0">
              <a:latin typeface="Bahnschrift SemiBold" panose="020B0502040204020203" pitchFamily="34" charset="0"/>
            </a:endParaRPr>
          </a:p>
          <a:p>
            <a:pPr>
              <a:buNone/>
            </a:pPr>
            <a:endParaRPr lang="en-US" dirty="0">
              <a:latin typeface="Bahnschrift SemiBold" panose="020B0502040204020203" pitchFamily="34" charset="0"/>
            </a:endParaRPr>
          </a:p>
          <a:p>
            <a:pPr>
              <a:buNone/>
            </a:pPr>
            <a:r>
              <a:rPr lang="en-US" dirty="0">
                <a:latin typeface="Bahnschrift SemiBold" panose="020B0502040204020203" pitchFamily="34" charset="0"/>
              </a:rPr>
              <a:t>2. Movement and Effects</a:t>
            </a:r>
          </a:p>
          <a:p>
            <a:pPr>
              <a:buNone/>
            </a:pPr>
            <a:r>
              <a:rPr lang="en-US" dirty="0">
                <a:latin typeface="Bahnschrift SemiBold" panose="020B0502040204020203" pitchFamily="34" charset="0"/>
              </a:rPr>
              <a:t>When the motor rotates, both eagle models rotate along with it. The eagles are fitted with blinking wings and realistic eagle sound effects to make them appear more lifelike and to effectively scare away birds.</a:t>
            </a:r>
          </a:p>
          <a:p>
            <a:pPr>
              <a:buNone/>
            </a:pPr>
            <a:endParaRPr lang="en-US" dirty="0">
              <a:latin typeface="Bahnschrift SemiBold" panose="020B0502040204020203" pitchFamily="34" charset="0"/>
            </a:endParaRPr>
          </a:p>
          <a:p>
            <a:pPr>
              <a:buNone/>
            </a:pPr>
            <a:endParaRPr lang="en-US" dirty="0">
              <a:latin typeface="Bahnschrift SemiBold" panose="020B0502040204020203" pitchFamily="34" charset="0"/>
            </a:endParaRPr>
          </a:p>
          <a:p>
            <a:r>
              <a:rPr lang="en-US" dirty="0">
                <a:latin typeface="Bahnschrift SemiBold" panose="020B0502040204020203" pitchFamily="34" charset="0"/>
              </a:rPr>
              <a:t>3. Monitoring System</a:t>
            </a:r>
          </a:p>
          <a:p>
            <a:r>
              <a:rPr lang="en-US" dirty="0">
                <a:latin typeface="Bahnschrift SemiBold" panose="020B0502040204020203" pitchFamily="34" charset="0"/>
              </a:rPr>
              <a:t>An ESP32 camera is connected to the setup for continuous monitoring of the field. This allows farmers to keep track of bird activity and system performance in real time.</a:t>
            </a:r>
          </a:p>
          <a:p>
            <a:endParaRPr lang="en-US" dirty="0">
              <a:latin typeface="Bahnschrift SemiBold" panose="020B0502040204020203" pitchFamily="34" charset="0"/>
            </a:endParaRPr>
          </a:p>
          <a:p>
            <a:endParaRPr lang="en-US" dirty="0">
              <a:latin typeface="Bahnschrift SemiBold" panose="020B0502040204020203" pitchFamily="34" charset="0"/>
            </a:endParaRPr>
          </a:p>
          <a:p>
            <a:r>
              <a:rPr lang="en-US" dirty="0">
                <a:latin typeface="Bahnschrift SemiBold" panose="020B0502040204020203" pitchFamily="34" charset="0"/>
              </a:rPr>
              <a:t>4. Mobile Control</a:t>
            </a:r>
          </a:p>
          <a:p>
            <a:r>
              <a:rPr lang="en-US" dirty="0">
                <a:latin typeface="Bahnschrift SemiBold" panose="020B0502040204020203" pitchFamily="34" charset="0"/>
              </a:rPr>
              <a:t>The system can be turned ON or OFF remotely using a mobile device, providing easy control and operation from anywhere.</a:t>
            </a:r>
          </a:p>
          <a:p>
            <a:pPr>
              <a:buNone/>
            </a:pPr>
            <a:endParaRPr lang="en-US" dirty="0">
              <a:latin typeface="Bahnschrift SemiBold" panose="020B0502040204020203" pitchFamily="34" charset="0"/>
            </a:endParaRPr>
          </a:p>
          <a:p>
            <a:pPr>
              <a:buNone/>
            </a:pPr>
            <a:endParaRPr lang="en-US" dirty="0">
              <a:latin typeface="Bahnschrift SemiBold" panose="020B0502040204020203" pitchFamily="34" charset="0"/>
            </a:endParaRPr>
          </a:p>
          <a:p>
            <a:r>
              <a:rPr lang="en-US" dirty="0">
                <a:latin typeface="Bahnschrift SemiBold" panose="020B0502040204020203" pitchFamily="34" charset="0"/>
              </a:rPr>
              <a:t>5. Energy Management</a:t>
            </a:r>
          </a:p>
          <a:p>
            <a:r>
              <a:rPr lang="en-US" dirty="0">
                <a:latin typeface="Bahnschrift SemiBold" panose="020B0502040204020203" pitchFamily="34" charset="0"/>
              </a:rPr>
              <a:t>The system is designed to rotate using wind speed, which helps in generating and storing energy. This stored energy can be used to power the system, making it more energy-efficient and sustainable.</a:t>
            </a:r>
          </a:p>
          <a:p>
            <a:pPr>
              <a:buNone/>
            </a:pPr>
            <a:endParaRPr lang="en-US" dirty="0">
              <a:latin typeface="Bahnschrift SemiBold" panose="020B0502040204020203" pitchFamily="34" charset="0"/>
            </a:endParaRPr>
          </a:p>
        </p:txBody>
      </p:sp>
    </p:spTree>
    <p:extLst>
      <p:ext uri="{BB962C8B-B14F-4D97-AF65-F5344CB8AC3E}">
        <p14:creationId xmlns:p14="http://schemas.microsoft.com/office/powerpoint/2010/main" val="2010560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2BFD666-737B-7141-0E9D-2462F1AB0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7" name="TextBox 6">
            <a:extLst>
              <a:ext uri="{FF2B5EF4-FFF2-40B4-BE49-F238E27FC236}">
                <a16:creationId xmlns:a16="http://schemas.microsoft.com/office/drawing/2014/main" id="{E3A502BB-33EA-8DC4-2583-F212F3EFE0E1}"/>
              </a:ext>
            </a:extLst>
          </p:cNvPr>
          <p:cNvSpPr txBox="1"/>
          <p:nvPr/>
        </p:nvSpPr>
        <p:spPr>
          <a:xfrm>
            <a:off x="4259484" y="232023"/>
            <a:ext cx="7161835" cy="923330"/>
          </a:xfrm>
          <a:prstGeom prst="rect">
            <a:avLst/>
          </a:prstGeom>
          <a:noFill/>
        </p:spPr>
        <p:txBody>
          <a:bodyPr wrap="square">
            <a:spAutoFit/>
          </a:bodyPr>
          <a:lstStyle/>
          <a:p>
            <a:r>
              <a:rPr lang="en-IN" sz="5400" dirty="0">
                <a:solidFill>
                  <a:srgbClr val="7030A0"/>
                </a:solidFill>
                <a:latin typeface="Algerian" panose="04020705040A02060702" pitchFamily="82" charset="0"/>
              </a:rPr>
              <a:t>Features</a:t>
            </a:r>
          </a:p>
        </p:txBody>
      </p:sp>
    </p:spTree>
    <p:extLst>
      <p:ext uri="{BB962C8B-B14F-4D97-AF65-F5344CB8AC3E}">
        <p14:creationId xmlns:p14="http://schemas.microsoft.com/office/powerpoint/2010/main" val="69306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Light Colour Background Vector Art, Icons, and Graphics for Free Download">
            <a:extLst>
              <a:ext uri="{FF2B5EF4-FFF2-40B4-BE49-F238E27FC236}">
                <a16:creationId xmlns:a16="http://schemas.microsoft.com/office/drawing/2014/main" id="{D9269725-AAB1-2870-41EB-6492281C47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534"/>
            <a:ext cx="12192000" cy="692053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26B87DE-3C1B-3DE2-1BD2-EC94E0C5AE0B}"/>
              </a:ext>
            </a:extLst>
          </p:cNvPr>
          <p:cNvSpPr txBox="1"/>
          <p:nvPr/>
        </p:nvSpPr>
        <p:spPr>
          <a:xfrm>
            <a:off x="1252331" y="864703"/>
            <a:ext cx="6410739" cy="3170584"/>
          </a:xfrm>
          <a:prstGeom prst="rect">
            <a:avLst/>
          </a:prstGeom>
          <a:noFill/>
        </p:spPr>
        <p:txBody>
          <a:bodyPr wrap="square">
            <a:spAutoFit/>
          </a:bodyPr>
          <a:lstStyle/>
          <a:p>
            <a:endParaRPr lang="en-IN" sz="2800" dirty="0"/>
          </a:p>
          <a:p>
            <a:endParaRPr lang="en-IN" sz="2800" dirty="0"/>
          </a:p>
          <a:p>
            <a:r>
              <a:rPr lang="en-IN" sz="2800" dirty="0"/>
              <a:t>⚙ Technologies Used:</a:t>
            </a:r>
          </a:p>
          <a:p>
            <a:pPr marL="457200" indent="-457200">
              <a:buFont typeface="Wingdings" panose="05000000000000000000" pitchFamily="2" charset="2"/>
              <a:buChar char="Ø"/>
            </a:pPr>
            <a:r>
              <a:rPr lang="en-IN" sz="2800" dirty="0"/>
              <a:t>IoT (for monitoring and control</a:t>
            </a:r>
          </a:p>
          <a:p>
            <a:pPr marL="457200" indent="-457200">
              <a:buFont typeface="Wingdings" panose="05000000000000000000" pitchFamily="2" charset="2"/>
              <a:buChar char="Ø"/>
            </a:pPr>
            <a:r>
              <a:rPr lang="en-IN" sz="2800" dirty="0"/>
              <a:t>Automation system</a:t>
            </a:r>
          </a:p>
          <a:p>
            <a:pPr marL="457200" indent="-457200">
              <a:buFont typeface="Wingdings" panose="05000000000000000000" pitchFamily="2" charset="2"/>
              <a:buChar char="Ø"/>
            </a:pPr>
            <a:r>
              <a:rPr lang="en-IN" sz="2800" dirty="0"/>
              <a:t>Renewable energy (solar &amp; wind)</a:t>
            </a:r>
          </a:p>
          <a:p>
            <a:pPr marL="457200" indent="-457200">
              <a:buFont typeface="Wingdings" panose="05000000000000000000" pitchFamily="2" charset="2"/>
              <a:buChar char="Ø"/>
            </a:pPr>
            <a:r>
              <a:rPr lang="en-IN" sz="2800" dirty="0"/>
              <a:t>Embedded systems (ESP32, sensors)</a:t>
            </a:r>
          </a:p>
        </p:txBody>
      </p:sp>
      <p:sp>
        <p:nvSpPr>
          <p:cNvPr id="5" name="TextBox 4">
            <a:extLst>
              <a:ext uri="{FF2B5EF4-FFF2-40B4-BE49-F238E27FC236}">
                <a16:creationId xmlns:a16="http://schemas.microsoft.com/office/drawing/2014/main" id="{ACF3B607-BC06-4A77-4950-15E5F8647863}"/>
              </a:ext>
            </a:extLst>
          </p:cNvPr>
          <p:cNvSpPr txBox="1"/>
          <p:nvPr/>
        </p:nvSpPr>
        <p:spPr>
          <a:xfrm>
            <a:off x="1252331" y="4117810"/>
            <a:ext cx="6967330" cy="2677656"/>
          </a:xfrm>
          <a:prstGeom prst="rect">
            <a:avLst/>
          </a:prstGeom>
          <a:noFill/>
        </p:spPr>
        <p:txBody>
          <a:bodyPr wrap="square">
            <a:spAutoFit/>
          </a:bodyPr>
          <a:lstStyle/>
          <a:p>
            <a:r>
              <a:rPr lang="en-IN" sz="2800" dirty="0"/>
              <a:t>🧰 Tools &amp; Components:</a:t>
            </a:r>
          </a:p>
          <a:p>
            <a:pPr marL="285750" indent="-285750">
              <a:buFont typeface="Wingdings" panose="05000000000000000000" pitchFamily="2" charset="2"/>
              <a:buChar char="Ø"/>
            </a:pPr>
            <a:r>
              <a:rPr lang="en-IN" sz="2800" dirty="0"/>
              <a:t>ESP32-CAM </a:t>
            </a:r>
          </a:p>
          <a:p>
            <a:pPr marL="285750" indent="-285750">
              <a:buFont typeface="Wingdings" panose="05000000000000000000" pitchFamily="2" charset="2"/>
              <a:buChar char="Ø"/>
            </a:pPr>
            <a:r>
              <a:rPr lang="en-IN" sz="2800" dirty="0"/>
              <a:t>Motor</a:t>
            </a:r>
          </a:p>
          <a:p>
            <a:pPr marL="285750" indent="-285750">
              <a:buFont typeface="Wingdings" panose="05000000000000000000" pitchFamily="2" charset="2"/>
              <a:buChar char="Ø"/>
            </a:pPr>
            <a:r>
              <a:rPr lang="en-IN" sz="2800" dirty="0"/>
              <a:t>Solar panel</a:t>
            </a:r>
          </a:p>
          <a:p>
            <a:pPr marL="285750" indent="-285750">
              <a:buFont typeface="Wingdings" panose="05000000000000000000" pitchFamily="2" charset="2"/>
              <a:buChar char="Ø"/>
            </a:pPr>
            <a:r>
              <a:rPr lang="en-IN" sz="2800" dirty="0"/>
              <a:t>Battery</a:t>
            </a:r>
          </a:p>
          <a:p>
            <a:pPr marL="285750" indent="-285750">
              <a:buFont typeface="Wingdings" panose="05000000000000000000" pitchFamily="2" charset="2"/>
              <a:buChar char="Ø"/>
            </a:pPr>
            <a:r>
              <a:rPr lang="en-IN" sz="2800" dirty="0"/>
              <a:t>Buzzer </a:t>
            </a:r>
          </a:p>
        </p:txBody>
      </p:sp>
      <p:sp>
        <p:nvSpPr>
          <p:cNvPr id="9" name="TextBox 8">
            <a:extLst>
              <a:ext uri="{FF2B5EF4-FFF2-40B4-BE49-F238E27FC236}">
                <a16:creationId xmlns:a16="http://schemas.microsoft.com/office/drawing/2014/main" id="{862BA08C-EFBB-670C-A48A-655632CC9479}"/>
              </a:ext>
            </a:extLst>
          </p:cNvPr>
          <p:cNvSpPr txBox="1"/>
          <p:nvPr/>
        </p:nvSpPr>
        <p:spPr>
          <a:xfrm>
            <a:off x="4201768" y="495371"/>
            <a:ext cx="6177168" cy="830997"/>
          </a:xfrm>
          <a:prstGeom prst="rect">
            <a:avLst/>
          </a:prstGeom>
          <a:noFill/>
        </p:spPr>
        <p:txBody>
          <a:bodyPr wrap="square">
            <a:spAutoFit/>
          </a:bodyPr>
          <a:lstStyle/>
          <a:p>
            <a:r>
              <a:rPr lang="en-IN" sz="4800" dirty="0">
                <a:latin typeface="Agency FB" panose="020B0503020202020204" pitchFamily="34" charset="0"/>
              </a:rPr>
              <a:t>Technologies and Tools</a:t>
            </a:r>
          </a:p>
        </p:txBody>
      </p:sp>
    </p:spTree>
    <p:extLst>
      <p:ext uri="{BB962C8B-B14F-4D97-AF65-F5344CB8AC3E}">
        <p14:creationId xmlns:p14="http://schemas.microsoft.com/office/powerpoint/2010/main" val="2486834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ght Yellow, yellow aesthetic plain color HD wallpaper | Pxfuel">
            <a:extLst>
              <a:ext uri="{FF2B5EF4-FFF2-40B4-BE49-F238E27FC236}">
                <a16:creationId xmlns:a16="http://schemas.microsoft.com/office/drawing/2014/main" id="{58F065A2-9B69-E7E0-8B01-7BFEBA85C5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13209105" cy="71677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551B25C-472E-77CC-7A73-6259787A2994}"/>
              </a:ext>
            </a:extLst>
          </p:cNvPr>
          <p:cNvSpPr txBox="1"/>
          <p:nvPr/>
        </p:nvSpPr>
        <p:spPr>
          <a:xfrm>
            <a:off x="5757242" y="416651"/>
            <a:ext cx="6684064" cy="1107996"/>
          </a:xfrm>
          <a:prstGeom prst="rect">
            <a:avLst/>
          </a:prstGeom>
          <a:noFill/>
        </p:spPr>
        <p:txBody>
          <a:bodyPr wrap="square">
            <a:spAutoFit/>
          </a:bodyPr>
          <a:lstStyle/>
          <a:p>
            <a:r>
              <a:rPr lang="en-IN" sz="6600" dirty="0"/>
              <a:t>Architecture</a:t>
            </a:r>
          </a:p>
        </p:txBody>
      </p:sp>
      <p:sp>
        <p:nvSpPr>
          <p:cNvPr id="5" name="TextBox 4">
            <a:extLst>
              <a:ext uri="{FF2B5EF4-FFF2-40B4-BE49-F238E27FC236}">
                <a16:creationId xmlns:a16="http://schemas.microsoft.com/office/drawing/2014/main" id="{56047C73-4478-8D03-86C8-DDA8C18C36E2}"/>
              </a:ext>
            </a:extLst>
          </p:cNvPr>
          <p:cNvSpPr txBox="1"/>
          <p:nvPr/>
        </p:nvSpPr>
        <p:spPr>
          <a:xfrm>
            <a:off x="556592" y="2627099"/>
            <a:ext cx="9054548" cy="3416320"/>
          </a:xfrm>
          <a:prstGeom prst="rect">
            <a:avLst/>
          </a:prstGeom>
          <a:noFill/>
        </p:spPr>
        <p:txBody>
          <a:bodyPr wrap="square">
            <a:spAutoFit/>
          </a:bodyPr>
          <a:lstStyle/>
          <a:p>
            <a:pPr marL="285750" indent="-285750">
              <a:buFont typeface="Wingdings" panose="05000000000000000000" pitchFamily="2" charset="2"/>
              <a:buChar char="v"/>
            </a:pPr>
            <a:r>
              <a:rPr lang="en-IN" sz="2400" dirty="0"/>
              <a:t>Power Unit:🔋 Solar panel + wind turbine → gives power to the system</a:t>
            </a:r>
          </a:p>
          <a:p>
            <a:pPr marL="285750" indent="-285750">
              <a:buFont typeface="Wingdings" panose="05000000000000000000" pitchFamily="2" charset="2"/>
              <a:buChar char="v"/>
            </a:pPr>
            <a:r>
              <a:rPr lang="en-IN" sz="2400" dirty="0"/>
              <a:t> Control Unit:⚙ ESP32-CAM → controls motor, LEDs, and sound module</a:t>
            </a:r>
          </a:p>
          <a:p>
            <a:pPr marL="285750" indent="-285750">
              <a:buFont typeface="Wingdings" panose="05000000000000000000" pitchFamily="2" charset="2"/>
              <a:buChar char="v"/>
            </a:pPr>
            <a:r>
              <a:rPr lang="en-IN" sz="2400" dirty="0"/>
              <a:t>Deterrent Unit:🦅 Rotating V-shaped rod → holds eagle models with LED wings and sound</a:t>
            </a:r>
          </a:p>
          <a:p>
            <a:pPr marL="285750" indent="-285750">
              <a:buFont typeface="Wingdings" panose="05000000000000000000" pitchFamily="2" charset="2"/>
              <a:buChar char="v"/>
            </a:pPr>
            <a:r>
              <a:rPr lang="en-IN" sz="2400" dirty="0"/>
              <a:t> Monitoring Unit:📷 ESP32-CAM → captures live video of the field</a:t>
            </a:r>
          </a:p>
          <a:p>
            <a:pPr marL="285750" indent="-285750">
              <a:buFont typeface="Wingdings" panose="05000000000000000000" pitchFamily="2" charset="2"/>
              <a:buChar char="v"/>
            </a:pPr>
            <a:r>
              <a:rPr lang="en-IN" sz="2400" dirty="0"/>
              <a:t>IoT Dashboard:🌐 Displays live feed and allows ON/OFF control through mobile or web</a:t>
            </a:r>
          </a:p>
        </p:txBody>
      </p:sp>
    </p:spTree>
    <p:extLst>
      <p:ext uri="{BB962C8B-B14F-4D97-AF65-F5344CB8AC3E}">
        <p14:creationId xmlns:p14="http://schemas.microsoft.com/office/powerpoint/2010/main" val="4052617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Download Light Brown Aesthetic Shades Of Brown Wallpaper | Wallpapers.com">
            <a:extLst>
              <a:ext uri="{FF2B5EF4-FFF2-40B4-BE49-F238E27FC236}">
                <a16:creationId xmlns:a16="http://schemas.microsoft.com/office/drawing/2014/main" id="{57B95CBD-28F8-D98E-ADE8-7295A0FAB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30" y="0"/>
            <a:ext cx="1230133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662F7D-710B-16F9-3EAA-D641D67773B6}"/>
              </a:ext>
            </a:extLst>
          </p:cNvPr>
          <p:cNvSpPr txBox="1"/>
          <p:nvPr/>
        </p:nvSpPr>
        <p:spPr>
          <a:xfrm>
            <a:off x="3110948" y="1451113"/>
            <a:ext cx="6867939" cy="4893647"/>
          </a:xfrm>
          <a:prstGeom prst="rect">
            <a:avLst/>
          </a:prstGeom>
          <a:noFill/>
        </p:spPr>
        <p:txBody>
          <a:bodyPr wrap="square">
            <a:spAutoFit/>
          </a:bodyPr>
          <a:lstStyle/>
          <a:p>
            <a:pPr algn="ctr"/>
            <a:r>
              <a:rPr lang="en-IN" sz="2400" dirty="0"/>
              <a:t>Solar &amp; Wind Power      </a:t>
            </a:r>
          </a:p>
          <a:p>
            <a:pPr algn="ctr"/>
            <a:r>
              <a:rPr lang="en-IN" sz="2400" dirty="0"/>
              <a:t>  ↓</a:t>
            </a:r>
          </a:p>
          <a:p>
            <a:pPr algn="ctr"/>
            <a:r>
              <a:rPr lang="en-IN" sz="2400" dirty="0"/>
              <a:t>Battery &amp; Power Management     </a:t>
            </a:r>
          </a:p>
          <a:p>
            <a:pPr algn="ctr"/>
            <a:r>
              <a:rPr lang="en-IN" sz="2400" dirty="0"/>
              <a:t>   ↓</a:t>
            </a:r>
          </a:p>
          <a:p>
            <a:pPr algn="ctr"/>
            <a:r>
              <a:rPr lang="en-IN" sz="2400" dirty="0"/>
              <a:t>ESP32-CAM + Motor Control       </a:t>
            </a:r>
          </a:p>
          <a:p>
            <a:pPr algn="ctr"/>
            <a:r>
              <a:rPr lang="en-IN" sz="2400" dirty="0"/>
              <a:t> ↓</a:t>
            </a:r>
          </a:p>
          <a:p>
            <a:pPr algn="ctr"/>
            <a:r>
              <a:rPr lang="en-IN" sz="2400" dirty="0"/>
              <a:t>Rotating V-shaped Rod      </a:t>
            </a:r>
          </a:p>
          <a:p>
            <a:pPr algn="ctr"/>
            <a:r>
              <a:rPr lang="en-IN" sz="2400" dirty="0"/>
              <a:t>  ↓</a:t>
            </a:r>
          </a:p>
          <a:p>
            <a:pPr algn="ctr"/>
            <a:r>
              <a:rPr lang="en-IN" sz="2400" dirty="0"/>
              <a:t>Eagle Decoys (LED Wing Blink + Sound)       </a:t>
            </a:r>
          </a:p>
          <a:p>
            <a:pPr algn="ctr"/>
            <a:r>
              <a:rPr lang="en-IN" sz="2400" dirty="0"/>
              <a:t> ↓</a:t>
            </a:r>
          </a:p>
          <a:p>
            <a:pPr algn="ctr"/>
            <a:r>
              <a:rPr lang="en-IN" sz="2400" dirty="0"/>
              <a:t>Birds get scared and fly away     </a:t>
            </a:r>
          </a:p>
          <a:p>
            <a:pPr algn="ctr"/>
            <a:r>
              <a:rPr lang="en-IN" sz="2400" dirty="0"/>
              <a:t>   ↓</a:t>
            </a:r>
          </a:p>
          <a:p>
            <a:pPr algn="ctr"/>
            <a:r>
              <a:rPr lang="en-IN" sz="2400" dirty="0"/>
              <a:t>ESP32-CAM sends live video to IoT Dashboard</a:t>
            </a:r>
          </a:p>
        </p:txBody>
      </p:sp>
      <p:sp>
        <p:nvSpPr>
          <p:cNvPr id="7" name="TextBox 6">
            <a:extLst>
              <a:ext uri="{FF2B5EF4-FFF2-40B4-BE49-F238E27FC236}">
                <a16:creationId xmlns:a16="http://schemas.microsoft.com/office/drawing/2014/main" id="{C1135D0D-FC1E-96D1-764A-FDB331F8D897}"/>
              </a:ext>
            </a:extLst>
          </p:cNvPr>
          <p:cNvSpPr txBox="1"/>
          <p:nvPr/>
        </p:nvSpPr>
        <p:spPr>
          <a:xfrm>
            <a:off x="5218043" y="356225"/>
            <a:ext cx="3329610" cy="707886"/>
          </a:xfrm>
          <a:prstGeom prst="rect">
            <a:avLst/>
          </a:prstGeom>
          <a:noFill/>
        </p:spPr>
        <p:txBody>
          <a:bodyPr wrap="square">
            <a:spAutoFit/>
          </a:bodyPr>
          <a:lstStyle/>
          <a:p>
            <a:r>
              <a:rPr lang="en-IN" sz="4000" dirty="0">
                <a:latin typeface="Algerian" panose="04020705040A02060702" pitchFamily="82" charset="0"/>
              </a:rPr>
              <a:t>Work Flow</a:t>
            </a:r>
          </a:p>
        </p:txBody>
      </p:sp>
    </p:spTree>
    <p:extLst>
      <p:ext uri="{BB962C8B-B14F-4D97-AF65-F5344CB8AC3E}">
        <p14:creationId xmlns:p14="http://schemas.microsoft.com/office/powerpoint/2010/main" val="287676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Teal Background Vector Images (over 29,000)">
            <a:extLst>
              <a:ext uri="{FF2B5EF4-FFF2-40B4-BE49-F238E27FC236}">
                <a16:creationId xmlns:a16="http://schemas.microsoft.com/office/drawing/2014/main" id="{EBFF80FE-6EB7-2E49-CC14-DE0B2BEFE3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1345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Teal Background Vector Images (over 29,000)">
            <a:extLst>
              <a:ext uri="{FF2B5EF4-FFF2-40B4-BE49-F238E27FC236}">
                <a16:creationId xmlns:a16="http://schemas.microsoft.com/office/drawing/2014/main" id="{8C99E319-2537-68E0-A3AD-444740D388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2148" y="948359"/>
            <a:ext cx="8349043" cy="4762500"/>
          </a:xfrm>
          <a:prstGeom prst="rect">
            <a:avLst/>
          </a:prstGeom>
          <a:noFill/>
          <a:extLst>
            <a:ext uri="{909E8E84-426E-40DD-AFC4-6F175D3DCCD1}">
              <a14:hiddenFill xmlns:a14="http://schemas.microsoft.com/office/drawing/2010/main">
                <a:solidFill>
                  <a:srgbClr val="FFFFFF"/>
                </a:solidFill>
              </a14:hiddenFill>
            </a:ext>
          </a:extLst>
        </p:spPr>
      </p:pic>
      <p:pic>
        <p:nvPicPr>
          <p:cNvPr id="4" name="sv">
            <a:hlinkClick r:id="" action="ppaction://media"/>
            <a:extLst>
              <a:ext uri="{FF2B5EF4-FFF2-40B4-BE49-F238E27FC236}">
                <a16:creationId xmlns:a16="http://schemas.microsoft.com/office/drawing/2014/main" id="{02EF693C-365E-565A-43DF-B93978F2262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011435" y="596977"/>
            <a:ext cx="3641725" cy="5312664"/>
          </a:xfrm>
          <a:prstGeom prst="rect">
            <a:avLst/>
          </a:prstGeom>
        </p:spPr>
      </p:pic>
      <p:sp>
        <p:nvSpPr>
          <p:cNvPr id="8" name="TextBox 7">
            <a:extLst>
              <a:ext uri="{FF2B5EF4-FFF2-40B4-BE49-F238E27FC236}">
                <a16:creationId xmlns:a16="http://schemas.microsoft.com/office/drawing/2014/main" id="{3A6D88E9-A93B-1E89-DBD1-6B46AF2DA8D3}"/>
              </a:ext>
            </a:extLst>
          </p:cNvPr>
          <p:cNvSpPr txBox="1"/>
          <p:nvPr/>
        </p:nvSpPr>
        <p:spPr>
          <a:xfrm>
            <a:off x="6453128" y="367748"/>
            <a:ext cx="597568" cy="3785652"/>
          </a:xfrm>
          <a:prstGeom prst="rect">
            <a:avLst/>
          </a:prstGeom>
          <a:noFill/>
        </p:spPr>
        <p:txBody>
          <a:bodyPr wrap="square">
            <a:spAutoFit/>
          </a:bodyPr>
          <a:lstStyle/>
          <a:p>
            <a:r>
              <a:rPr lang="en-IN" sz="4000" dirty="0">
                <a:latin typeface="Algerian" panose="04020705040A02060702" pitchFamily="82" charset="0"/>
              </a:rPr>
              <a:t>Result</a:t>
            </a:r>
          </a:p>
        </p:txBody>
      </p:sp>
      <p:sp>
        <p:nvSpPr>
          <p:cNvPr id="15" name="TextBox 14">
            <a:extLst>
              <a:ext uri="{FF2B5EF4-FFF2-40B4-BE49-F238E27FC236}">
                <a16:creationId xmlns:a16="http://schemas.microsoft.com/office/drawing/2014/main" id="{842664A3-8289-59BB-4323-37CD60C05337}"/>
              </a:ext>
            </a:extLst>
          </p:cNvPr>
          <p:cNvSpPr txBox="1"/>
          <p:nvPr/>
        </p:nvSpPr>
        <p:spPr>
          <a:xfrm>
            <a:off x="238540" y="3747052"/>
            <a:ext cx="5976048" cy="1815882"/>
          </a:xfrm>
          <a:prstGeom prst="rect">
            <a:avLst/>
          </a:prstGeom>
          <a:noFill/>
        </p:spPr>
        <p:txBody>
          <a:bodyPr wrap="square">
            <a:spAutoFit/>
          </a:bodyPr>
          <a:lstStyle/>
          <a:p>
            <a:pPr marL="457200" indent="-457200">
              <a:buFont typeface="Wingdings" panose="05000000000000000000" pitchFamily="2" charset="2"/>
              <a:buChar char="v"/>
            </a:pPr>
            <a:r>
              <a:rPr lang="en-IN" sz="2800" dirty="0"/>
              <a:t>The system scared birds safely and protected crops.</a:t>
            </a:r>
          </a:p>
          <a:p>
            <a:pPr marL="457200" indent="-457200">
              <a:buFont typeface="Wingdings" panose="05000000000000000000" pitchFamily="2" charset="2"/>
              <a:buChar char="v"/>
            </a:pPr>
            <a:r>
              <a:rPr lang="en-IN" sz="2800" dirty="0"/>
              <a:t>It worked well using solar power and gave live camera view</a:t>
            </a:r>
          </a:p>
        </p:txBody>
      </p:sp>
    </p:spTree>
    <p:extLst>
      <p:ext uri="{BB962C8B-B14F-4D97-AF65-F5344CB8AC3E}">
        <p14:creationId xmlns:p14="http://schemas.microsoft.com/office/powerpoint/2010/main" val="373470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ly Art Abstract Green Pattern iPhone Wallpapers Free Download">
            <a:extLst>
              <a:ext uri="{FF2B5EF4-FFF2-40B4-BE49-F238E27FC236}">
                <a16:creationId xmlns:a16="http://schemas.microsoft.com/office/drawing/2014/main" id="{BF2AB391-56CA-A3A6-5282-4560613B1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03B183-B728-4187-3F91-75814B6F1A31}"/>
              </a:ext>
            </a:extLst>
          </p:cNvPr>
          <p:cNvSpPr txBox="1"/>
          <p:nvPr/>
        </p:nvSpPr>
        <p:spPr>
          <a:xfrm>
            <a:off x="6729984" y="1250942"/>
            <a:ext cx="3593592" cy="1015663"/>
          </a:xfrm>
          <a:prstGeom prst="rect">
            <a:avLst/>
          </a:prstGeom>
          <a:noFill/>
        </p:spPr>
        <p:txBody>
          <a:bodyPr wrap="square">
            <a:spAutoFit/>
          </a:bodyPr>
          <a:lstStyle/>
          <a:p>
            <a:r>
              <a:rPr lang="en-IN" sz="6000" dirty="0"/>
              <a:t>Conclusion</a:t>
            </a:r>
          </a:p>
        </p:txBody>
      </p:sp>
      <p:sp>
        <p:nvSpPr>
          <p:cNvPr id="7" name="TextBox 6">
            <a:extLst>
              <a:ext uri="{FF2B5EF4-FFF2-40B4-BE49-F238E27FC236}">
                <a16:creationId xmlns:a16="http://schemas.microsoft.com/office/drawing/2014/main" id="{F87FBE24-F3B8-8C62-F21E-B030E2874124}"/>
              </a:ext>
            </a:extLst>
          </p:cNvPr>
          <p:cNvSpPr txBox="1"/>
          <p:nvPr/>
        </p:nvSpPr>
        <p:spPr>
          <a:xfrm>
            <a:off x="809244" y="3592806"/>
            <a:ext cx="8723376" cy="2554545"/>
          </a:xfrm>
          <a:prstGeom prst="rect">
            <a:avLst/>
          </a:prstGeom>
          <a:noFill/>
        </p:spPr>
        <p:txBody>
          <a:bodyPr wrap="square">
            <a:spAutoFit/>
          </a:bodyPr>
          <a:lstStyle/>
          <a:p>
            <a:pPr>
              <a:buNone/>
            </a:pPr>
            <a:r>
              <a:rPr lang="en-US" sz="3200" dirty="0">
                <a:solidFill>
                  <a:schemeClr val="accent2">
                    <a:lumMod val="75000"/>
                  </a:schemeClr>
                </a:solidFill>
                <a:latin typeface="Arial Rounded MT Bold" panose="020F0704030504030204" pitchFamily="34" charset="0"/>
              </a:rPr>
              <a:t>The Smart Bird Deterrent System helps farmers protect crops in an eco-friendly way.</a:t>
            </a:r>
            <a:br>
              <a:rPr lang="en-US" sz="3200" dirty="0">
                <a:solidFill>
                  <a:schemeClr val="accent2">
                    <a:lumMod val="75000"/>
                  </a:schemeClr>
                </a:solidFill>
                <a:latin typeface="Arial Rounded MT Bold" panose="020F0704030504030204" pitchFamily="34" charset="0"/>
              </a:rPr>
            </a:br>
            <a:r>
              <a:rPr lang="en-US" sz="3200" dirty="0">
                <a:solidFill>
                  <a:schemeClr val="accent2">
                    <a:lumMod val="75000"/>
                  </a:schemeClr>
                </a:solidFill>
                <a:latin typeface="Arial Rounded MT Bold" panose="020F0704030504030204" pitchFamily="34" charset="0"/>
              </a:rPr>
              <a:t>It is low-cost, automatic, and safe for birds while improving farm productivity.</a:t>
            </a:r>
          </a:p>
        </p:txBody>
      </p:sp>
    </p:spTree>
    <p:extLst>
      <p:ext uri="{BB962C8B-B14F-4D97-AF65-F5344CB8AC3E}">
        <p14:creationId xmlns:p14="http://schemas.microsoft.com/office/powerpoint/2010/main" val="2031329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message written on ripped torn blue paper with pink background  conceptual thank you symbol copy space | Premium Photo">
            <a:extLst>
              <a:ext uri="{FF2B5EF4-FFF2-40B4-BE49-F238E27FC236}">
                <a16:creationId xmlns:a16="http://schemas.microsoft.com/office/drawing/2014/main" id="{23835376-B5FE-BA30-9FEF-C68447C36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9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554</Words>
  <Application>Microsoft Office PowerPoint</Application>
  <PresentationFormat>Widescreen</PresentationFormat>
  <Paragraphs>69</Paragraphs>
  <Slides>11</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Agency FB</vt:lpstr>
      <vt:lpstr>Algerian</vt:lpstr>
      <vt:lpstr>Arial</vt:lpstr>
      <vt:lpstr>Arial Rounded MT Bold</vt:lpstr>
      <vt:lpstr>Bahnschrift SemiBold</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bathula srikanth</dc:creator>
  <cp:lastModifiedBy>919502905197</cp:lastModifiedBy>
  <cp:revision>13</cp:revision>
  <dcterms:created xsi:type="dcterms:W3CDTF">2025-10-30T17:39:30Z</dcterms:created>
  <dcterms:modified xsi:type="dcterms:W3CDTF">2026-03-03T18:24:19Z</dcterms:modified>
</cp:coreProperties>
</file>